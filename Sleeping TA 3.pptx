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313" r:id="rId2"/>
    <p:sldId id="322" r:id="rId3"/>
    <p:sldId id="342" r:id="rId4"/>
    <p:sldId id="343" r:id="rId5"/>
    <p:sldId id="344" r:id="rId6"/>
    <p:sldId id="336" r:id="rId7"/>
    <p:sldId id="345" r:id="rId8"/>
    <p:sldId id="346" r:id="rId9"/>
    <p:sldId id="347" r:id="rId10"/>
    <p:sldId id="348" r:id="rId11"/>
    <p:sldId id="349" r:id="rId12"/>
    <p:sldId id="328" r:id="rId13"/>
    <p:sldId id="323" r:id="rId14"/>
    <p:sldId id="325" r:id="rId15"/>
    <p:sldId id="326" r:id="rId16"/>
    <p:sldId id="332" r:id="rId17"/>
    <p:sldId id="335" r:id="rId18"/>
    <p:sldId id="334" r:id="rId19"/>
    <p:sldId id="330" r:id="rId20"/>
    <p:sldId id="331" r:id="rId21"/>
    <p:sldId id="337" r:id="rId22"/>
    <p:sldId id="338" r:id="rId23"/>
    <p:sldId id="339" r:id="rId24"/>
    <p:sldId id="34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686" autoAdjust="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DF6AF-ED97-E446-B7C1-42CD669B499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CE74E-F8AC-444B-A7BC-5994CF0B9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1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en-US" dirty="0"/>
              <a:t> ensures only one thread edits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chair[]/count/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dirty="0"/>
              <a:t> at a time.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+ 1) % NUM_SEAT</a:t>
            </a:r>
            <a:r>
              <a:rPr lang="en-US" dirty="0"/>
              <a:t> makes the chairs a circular queue.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(&amp;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sem_stu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is how students wake the TA;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(&amp;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stu_done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])</a:t>
            </a:r>
            <a:r>
              <a:rPr lang="en-US" dirty="0"/>
              <a:t> is how a specific student waits for their session to finish.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ONE_AND_DONE</a:t>
            </a:r>
            <a:r>
              <a:rPr lang="en-US" dirty="0"/>
              <a:t> is a compile-time switch: “help me once and I’m done” vs “I’ll come back for more help.”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CE74E-F8AC-444B-A7BC-5994CF0B98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16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8C74-44AA-4100-C01E-14B01C93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206A3-B88E-C33E-E964-377455497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4BBBB-AD4F-BA90-5CBE-193725968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# ***  is C preprocessor directives</a:t>
            </a:r>
            <a:r>
              <a:rPr lang="en-US" dirty="0"/>
              <a:t>. They run </a:t>
            </a:r>
            <a:r>
              <a:rPr lang="en-US" b="1" dirty="0"/>
              <a:t>at compile time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BDCB-5D50-686A-9D8C-E726448F1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CE74E-F8AC-444B-A7BC-5994CF0B98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DAD8-5D24-15DB-BDB2-8ADC23E0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5ED92-A85B-774F-564F-4C822D8A9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A9862-0997-8BF2-99E6-FF2276198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en-US" dirty="0"/>
              <a:t> ensures only one thread edits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chair[]/count/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dirty="0"/>
              <a:t> at a time.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next_seat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+ 1) % NUM_SEAT</a:t>
            </a:r>
            <a:r>
              <a:rPr lang="en-US" dirty="0"/>
              <a:t> makes the chairs a circular queue.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(&amp;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sem_stu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is how students wake the TA;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(&amp;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stu_done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])</a:t>
            </a:r>
            <a:r>
              <a:rPr lang="en-US" dirty="0"/>
              <a:t> is how a specific student waits for their session to finish.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ONE_AND_DONE</a:t>
            </a:r>
            <a:r>
              <a:rPr lang="en-US" dirty="0"/>
              <a:t> is a compile-time switch: “help me once and I’m done” vs “I’ll come back for more help.”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C14B9-1311-4530-373F-5737EB03E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CE74E-F8AC-444B-A7BC-5994CF0B98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4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system32\cmd.exe" TargetMode="External"/><Relationship Id="rId2" Type="http://schemas.openxmlformats.org/officeDocument/2006/relationships/hyperlink" Target="https://github.com/J-Harder81/CSC385-GroupProject-SleepingT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BB87-97C0-7B3E-C076-DFC77E6F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FACD-09F9-980B-6C49-DA534E625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614976" y="1691356"/>
            <a:ext cx="9755187" cy="276652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Sleeping-ta</a:t>
            </a:r>
            <a:br>
              <a:rPr lang="en-US" sz="900" dirty="0"/>
            </a:br>
            <a:br>
              <a:rPr lang="en-US" sz="6000" dirty="0"/>
            </a:br>
            <a:r>
              <a:rPr lang="en-US" sz="4000" i="1" dirty="0"/>
              <a:t>semaphore, mutex, &amp; pointer</a:t>
            </a:r>
            <a:endParaRPr lang="en-US" sz="6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67FF7-E4F4-A272-1691-B018B43A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297388" y="5182955"/>
            <a:ext cx="9755187" cy="550333"/>
          </a:xfrm>
        </p:spPr>
        <p:txBody>
          <a:bodyPr/>
          <a:lstStyle/>
          <a:p>
            <a:r>
              <a:rPr lang="en-US" dirty="0"/>
              <a:t>Prepared By: Donald, Juliana, &amp; </a:t>
            </a:r>
            <a:r>
              <a:rPr lang="en-US" dirty="0" err="1"/>
              <a:t>justin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0CD2E-CDC2-60A8-5AFB-5F593E4E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/>
              <a:t>Simulation</a:t>
            </a:r>
            <a:br>
              <a:rPr lang="en-US" dirty="0"/>
            </a:br>
            <a:r>
              <a:rPr lang="en-US" sz="2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https://github.com/j-Harder81/CSC385-GroupProject-SleepingTA · GitHub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Action Button: Blank 7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E0728118-A398-3DCE-F9CA-CBD58743784B}"/>
              </a:ext>
            </a:extLst>
          </p:cNvPr>
          <p:cNvSpPr/>
          <p:nvPr/>
        </p:nvSpPr>
        <p:spPr>
          <a:xfrm>
            <a:off x="3722915" y="2939144"/>
            <a:ext cx="4354286" cy="1042416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SLEEPING -TA</a:t>
            </a:r>
          </a:p>
        </p:txBody>
      </p:sp>
    </p:spTree>
    <p:extLst>
      <p:ext uri="{BB962C8B-B14F-4D97-AF65-F5344CB8AC3E}">
        <p14:creationId xmlns:p14="http://schemas.microsoft.com/office/powerpoint/2010/main" val="71228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0CD2E-CDC2-60A8-5AFB-5F593E4E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Sleeping-TA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3D621-59BC-4700-513A-B2F499F33D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749196"/>
            <a:ext cx="10394707" cy="331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“sleeping TA with waiting chairs” simulation. 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user inputted number of students and one TA, it will simulate critical section access represented by three waiting chairs  for TA, using Portable Operating System Interface (POSIX) threads, a mutex, and semaphores.</a:t>
            </a:r>
          </a:p>
          <a:p>
            <a:pPr marL="457200" indent="-457200">
              <a:buAutoNum type="arabicPeriod"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8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184D06-B584-8706-7E9B-325533DCE8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95276" y="161925"/>
            <a:ext cx="8115673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4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041B71-59A9-8E32-6658-7A1589890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1375235"/>
            <a:ext cx="3310128" cy="5762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372F024-BF4E-6893-F842-2A415A13FC0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5802" y="1951498"/>
            <a:ext cx="3310128" cy="2734928"/>
          </a:xfrm>
          <a:ln>
            <a:solidFill>
              <a:schemeClr val="tx1"/>
            </a:solidFill>
          </a:ln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num_seat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number of hallway chairs available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sleep_max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max sleep time for ta and students (in seconds)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one_and_done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one_and_done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toggle: 1 = student leaves after one help; 0 = student keeps re-queuing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9F65A4-541D-3263-5538-C3A40E8F2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34622" y="1375235"/>
            <a:ext cx="3310128" cy="5762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Semaphore/mutex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C663390-8EBE-9898-2C75-BE41BF62AB0C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234621" y="1951498"/>
            <a:ext cx="3310128" cy="2734928"/>
          </a:xfrm>
          <a:ln>
            <a:solidFill>
              <a:schemeClr val="tx1"/>
            </a:solidFill>
          </a:ln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sem_stu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semaphore to wake the ta when students arrive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stu_done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null;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array of semaphores for each student to wait for help completion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mutex;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mutex to protect shared state (chair queue, counters)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24C61D1-2409-9DD9-B5B7-76156AF44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0380" y="1375235"/>
            <a:ext cx="3310128" cy="5762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Shared state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9B15B4-71CB-3499-2423-C843BF51B40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770380" y="1951498"/>
            <a:ext cx="3310128" cy="273492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chair[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num_seat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{0};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circular queue representing hallway chairs (holds student ids)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count = 0;        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number of students currently waiting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    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index for next student to sit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next_teach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   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index for ta to serve next student</a:t>
            </a:r>
          </a:p>
        </p:txBody>
      </p:sp>
    </p:spTree>
    <p:extLst>
      <p:ext uri="{BB962C8B-B14F-4D97-AF65-F5344CB8AC3E}">
        <p14:creationId xmlns:p14="http://schemas.microsoft.com/office/powerpoint/2010/main" val="28607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B94CB94-56EA-FB4A-8722-186FACFA0621}"/>
              </a:ext>
            </a:extLst>
          </p:cNvPr>
          <p:cNvSpPr txBox="1">
            <a:spLocks/>
          </p:cNvSpPr>
          <p:nvPr/>
        </p:nvSpPr>
        <p:spPr>
          <a:xfrm>
            <a:off x="2340866" y="1375235"/>
            <a:ext cx="3310128" cy="5762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400" b="0" kern="1200" cap="all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Simulation control</a:t>
            </a:r>
            <a:endParaRPr lang="en-US" dirty="0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A4651CAC-A6F4-2814-AFB3-FB03CF53A5EA}"/>
              </a:ext>
            </a:extLst>
          </p:cNvPr>
          <p:cNvSpPr txBox="1">
            <a:spLocks/>
          </p:cNvSpPr>
          <p:nvPr/>
        </p:nvSpPr>
        <p:spPr>
          <a:xfrm>
            <a:off x="2340865" y="1951498"/>
            <a:ext cx="3310128" cy="27349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2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g_student_num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Total number of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atomic_int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= 1;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Flag to control simulation loop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atomic_int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*helped = NULL;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Array to track which students have been helped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0E2801D-A74C-E818-17F0-E1478103B306}"/>
              </a:ext>
            </a:extLst>
          </p:cNvPr>
          <p:cNvSpPr txBox="1">
            <a:spLocks/>
          </p:cNvSpPr>
          <p:nvPr/>
        </p:nvSpPr>
        <p:spPr>
          <a:xfrm>
            <a:off x="5876624" y="1375235"/>
            <a:ext cx="3310128" cy="5762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400" b="0" kern="1200" cap="all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Function prototypes</a:t>
            </a:r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80724872-C744-0670-C127-E6CF8006142C}"/>
              </a:ext>
            </a:extLst>
          </p:cNvPr>
          <p:cNvSpPr txBox="1">
            <a:spLocks/>
          </p:cNvSpPr>
          <p:nvPr/>
        </p:nvSpPr>
        <p:spPr>
          <a:xfrm>
            <a:off x="5876624" y="1951498"/>
            <a:ext cx="3310128" cy="27349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2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9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rand_sleep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Simulate a random delay to mimic real-world unpredictability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void*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stu_programming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(void*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stu_id_ptr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Entry point for each student thread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void*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ta_teaching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(void* unused);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Entry point for TA thread</a:t>
            </a:r>
          </a:p>
        </p:txBody>
      </p:sp>
    </p:spTree>
    <p:extLst>
      <p:ext uri="{BB962C8B-B14F-4D97-AF65-F5344CB8AC3E}">
        <p14:creationId xmlns:p14="http://schemas.microsoft.com/office/powerpoint/2010/main" val="319899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EC40-3315-4CE3-3237-92EB509A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FA6C8-9558-4B0D-9615-043B072D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Main function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F235B70-C92E-B3CF-E476-EAF9B31E02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750"/>
            <a:ext cx="10394950" cy="331152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 sz="2800" dirty="0"/>
              <a:t>Prompt user for number of students</a:t>
            </a:r>
          </a:p>
          <a:p>
            <a:pPr marL="457200" indent="-457200">
              <a:buAutoNum type="arabicPeriod"/>
            </a:pPr>
            <a:r>
              <a:rPr lang="en-US" sz="2800" dirty="0"/>
              <a:t>Allocate memory and initialize synchronization</a:t>
            </a:r>
          </a:p>
          <a:p>
            <a:pPr marL="457200" indent="-457200">
              <a:buAutoNum type="arabicPeriod"/>
            </a:pPr>
            <a:r>
              <a:rPr lang="en-US" sz="2800" dirty="0"/>
              <a:t>Create ta and student threads</a:t>
            </a:r>
          </a:p>
          <a:p>
            <a:pPr marL="457200" indent="-457200">
              <a:buAutoNum type="arabicPeriod"/>
            </a:pPr>
            <a:r>
              <a:rPr lang="en-US" sz="2800" dirty="0"/>
              <a:t>Monitor help completion for all students</a:t>
            </a:r>
          </a:p>
          <a:p>
            <a:pPr marL="457200" indent="-457200">
              <a:buAutoNum type="arabicPeriod"/>
            </a:pPr>
            <a:r>
              <a:rPr lang="en-US" sz="2800" dirty="0"/>
              <a:t>Signal shutdown and join threads</a:t>
            </a:r>
          </a:p>
          <a:p>
            <a:pPr marL="457200" indent="-457200">
              <a:buAutoNum type="arabicPeriod"/>
            </a:pPr>
            <a:r>
              <a:rPr lang="en-US" sz="2800" dirty="0"/>
              <a:t>Print help summary and clean up resources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7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EBAD7-E0AE-378D-F2FF-67D9402334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685800"/>
            <a:ext cx="5088714" cy="4688785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*students = NULL;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Array to handle student threads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ta;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TA thread handler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int *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NULL;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Array to store student IDs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// Prompt user for number of students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("Please enter the number of students being helped.\n\n");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Read the input and store it 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("%d", &amp;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!= 1 ||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// If input is not a valid integer or is negative, print an error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fprintf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(stderr, "Invalid number.\n\n");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1;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Exit the program to prevent invalid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If the number of students is zero, TA stays asleep, and exit the program gracefully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==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("TA is sleeping. There are no students to help.\n\n");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8D575-8459-6C3D-95CD-EDF3DD3292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971" y="685800"/>
            <a:ext cx="5086538" cy="468878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Allocate memory for threads, IDs, semaphores, and help tracking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students = malloc(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sizeof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*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malloc(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sizeof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(int) *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malloc(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sizeof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*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helped =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calloc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sizeof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atomic_int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Check if allocation failed, print error message, and exit program with failure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(!students || !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|| !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|| !helped)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("malloc/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calloc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1;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Zero out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array to ensure clean initialization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memset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0,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sizeof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(int) *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3647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EBAD7-E0AE-378D-F2FF-67D9402334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685800"/>
            <a:ext cx="5088714" cy="468878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Initialize the semaphore used to wake the TA when a student needs help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sem_stu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0, 0) != 0) {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sem_stu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"); return 1; }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Print error if initialization fails and exit with failure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Initialize a semaphore for each student to signal their turn with the TA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], 0, 0) != 0) {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]"); return 1;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Initialize the mutex used to protect shared resources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pthread_mutex_init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(&amp;mutex, NULL) != 0) {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pthread_mutex_init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"); return 1;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Seed random number generator for random sleep behavior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srand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((unsigned)time(NULL));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8D575-8459-6C3D-95CD-EDF3DD3292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971" y="685800"/>
            <a:ext cx="5086538" cy="468878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Create TA thread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pthread_create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(&amp;ta, NULL,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ta_teaching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NULL) !=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pthread_create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TA");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Print error if creation fails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1;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Exit with failure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Create student threads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 =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+ 1;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Assign each student a unique 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// Create a thread for each student, passing their ID as an argument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pthread_create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(&amp;students[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], NULL,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stu_programming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]) !=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perror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pthread_create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student");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Print error if creation fails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atomic_store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(&amp;running, 0);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Signal shutdown if any thread fails to launch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break;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Stop creating further threads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59005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EBAD7-E0AE-378D-F2FF-67D9402334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685800"/>
            <a:ext cx="5088714" cy="468878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// Flag to track whether all students have been helped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all_helped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Loop until all students have been helped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while (!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all_helped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all_helped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Assume all helped, then verify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// Check each student’s help status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If any student has not been helped, reset the flag and break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if 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atomic_load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(&amp;helped[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]) ==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all_helped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break;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usleep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(100000);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Sleep briefly to avoid busy waiting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8D575-8459-6C3D-95CD-EDF3DD3292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971" y="685800"/>
            <a:ext cx="5086538" cy="468878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Signal threads to shut down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atomic_store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(&amp;running, 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Wake TA if sleeping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sem_post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sem_stu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Wake any blocked students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sem_post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]);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Wait for all student threads to finish execution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pthread_join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(students[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], NULL);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Wait for the TA thread to finish execution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pthread_join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(ta, NULL);</a:t>
            </a:r>
          </a:p>
        </p:txBody>
      </p:sp>
    </p:spTree>
    <p:extLst>
      <p:ext uri="{BB962C8B-B14F-4D97-AF65-F5344CB8AC3E}">
        <p14:creationId xmlns:p14="http://schemas.microsoft.com/office/powerpoint/2010/main" val="3564521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EBAD7-E0AE-378D-F2FF-67D9402334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685800"/>
            <a:ext cx="5088714" cy="468878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// Print a help summary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("Help Summary:\n");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Loop through each student and report whether they were helped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Use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atomic_load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safely read the helped[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 flag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("Student %d: %s\n", i+1,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atomic_load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(&amp;helped[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]) ? "Helped" : "Not Helped");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Print "Helped" if the flag is 1, otherwise "Not Helped“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8D575-8459-6C3D-95CD-EDF3DD3292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971" y="685800"/>
            <a:ext cx="5086538" cy="468878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Cleanup resources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sem_destroy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sem_stu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Destroy the semaphore used to signal the 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// Destroy each student’s semaphore used for signaling help completion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(int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g_student_num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++)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sem_destroy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Destroy the mutex used to protect shared resources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pthread_mutex_destroy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(&amp;mutex);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 Free up allocated memory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free(students);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free(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student_ids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free(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stu_done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free(helped);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 final message and exit the program gracefully</a:t>
            </a:r>
            <a:endParaRPr lang="en-US" sz="15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("Simulation ended.\n");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return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0580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B21F-C841-BF0C-59F8-7D3A2538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6E882-35C0-5877-7253-7D2A6AFD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Student thread function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DE41B-9A16-1CBD-4AEA-FDCF4D3661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sz="2800" dirty="0"/>
              <a:t>identify the student</a:t>
            </a:r>
          </a:p>
          <a:p>
            <a:pPr marL="457200" indent="-457200">
              <a:buAutoNum type="arabicPeriod"/>
            </a:pPr>
            <a:r>
              <a:rPr lang="en-US" sz="2800" dirty="0"/>
              <a:t>Loop while the simulation is running</a:t>
            </a:r>
          </a:p>
          <a:p>
            <a:pPr marL="457200" indent="-457200">
              <a:buAutoNum type="arabicPeriod"/>
            </a:pPr>
            <a:r>
              <a:rPr lang="en-US" sz="2800" dirty="0"/>
              <a:t>Try to sit in a waiting chair for TA</a:t>
            </a:r>
          </a:p>
          <a:p>
            <a:pPr marL="457200" indent="-457200">
              <a:buAutoNum type="arabicPeriod"/>
            </a:pPr>
            <a:r>
              <a:rPr lang="en-US" sz="2800" dirty="0"/>
              <a:t>Wake the TA, then wait to be helped</a:t>
            </a:r>
          </a:p>
          <a:p>
            <a:pPr marL="457200" indent="-457200">
              <a:buAutoNum type="arabicPeriod"/>
            </a:pPr>
            <a:r>
              <a:rPr lang="en-US" sz="2800" dirty="0"/>
              <a:t>Leave after done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73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FE710A-D19C-32A0-4940-1C975E4DEAA4}"/>
              </a:ext>
            </a:extLst>
          </p:cNvPr>
          <p:cNvSpPr txBox="1"/>
          <p:nvPr/>
        </p:nvSpPr>
        <p:spPr>
          <a:xfrm>
            <a:off x="522514" y="478972"/>
            <a:ext cx="105047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stu_programming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stu_id_ptr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requires the thread function to take a void* argument(pointer to any data type)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id = *(int*)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stu_id_ptr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//assigning int id with integer value stored at where the passed pointer dictates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 - 1;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//assigning 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0-based C array value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Student %d is on the way to TA office\n\n", id);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//informing a particular student is on the way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0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2ADF-B258-CD92-9FED-38BA0D18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7D8854-8406-C2F1-3EBA-6011C1733314}"/>
              </a:ext>
            </a:extLst>
          </p:cNvPr>
          <p:cNvSpPr txBox="1"/>
          <p:nvPr/>
        </p:nvSpPr>
        <p:spPr>
          <a:xfrm>
            <a:off x="522514" y="968829"/>
            <a:ext cx="105047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(&amp;running))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main loop: reads data (occupying waiting area seat) atomically while the global ‘running’ flag is true to prevent data race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rand_sleep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// Simulate programming time randomly between 1-5 seconds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// entering critical section(waiting chair, count,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inspect/update</a:t>
            </a:r>
          </a:p>
        </p:txBody>
      </p:sp>
    </p:spTree>
    <p:extLst>
      <p:ext uri="{BB962C8B-B14F-4D97-AF65-F5344CB8AC3E}">
        <p14:creationId xmlns:p14="http://schemas.microsoft.com/office/powerpoint/2010/main" val="250227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2A5CD-11A9-83A9-CDD7-03F45290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B82221-CB9A-80FF-D056-A4C139937D71}"/>
              </a:ext>
            </a:extLst>
          </p:cNvPr>
          <p:cNvSpPr txBox="1"/>
          <p:nvPr/>
        </p:nvSpPr>
        <p:spPr>
          <a:xfrm>
            <a:off x="522514" y="968829"/>
            <a:ext cx="105047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(count &lt; NUM_SEAT)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//if there is at least one waiting chair available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chair[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id;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//place current student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count++;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//update number of student waiting in chairs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Student %d is waiting seated at hallway\n\n", id);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Student(s) waiting in the chairs : [1] %d [2] %d [3] %d\n\n",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chair[0], chair[1], chair[2]);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48507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3073-D596-538B-D193-5D71A813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1A4333-BF18-CAA7-9CC5-615C31C16685}"/>
              </a:ext>
            </a:extLst>
          </p:cNvPr>
          <p:cNvSpPr txBox="1"/>
          <p:nvPr/>
        </p:nvSpPr>
        <p:spPr>
          <a:xfrm>
            <a:off x="522514" y="968829"/>
            <a:ext cx="105047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% NUM_SEAT;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//update the next seat available with circular index, wrapping with modulo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pthread_mutex_unlock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//leaving critical section with consistent critical section data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sem_post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sem_stu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 Notify/Wake TA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(!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(&amp;running))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//for a safety measure, if for any reason it is not running, exit the loop</a:t>
            </a:r>
          </a:p>
        </p:txBody>
      </p:sp>
    </p:spTree>
    <p:extLst>
      <p:ext uri="{BB962C8B-B14F-4D97-AF65-F5344CB8AC3E}">
        <p14:creationId xmlns:p14="http://schemas.microsoft.com/office/powerpoint/2010/main" val="3865152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2AE9-0BE6-2102-260A-64CD71DE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A0EE45-D659-4093-A384-B51D8F563CB1}"/>
              </a:ext>
            </a:extLst>
          </p:cNvPr>
          <p:cNvSpPr txBox="1"/>
          <p:nvPr/>
        </p:nvSpPr>
        <p:spPr>
          <a:xfrm>
            <a:off x="522514" y="968829"/>
            <a:ext cx="105047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sem_wait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stu_done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Block until TA signals this specific student "you're done".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#if ONE_AND_DONE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   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If compiled as one-and-done, exit after a single help session.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#else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continue;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Otherwise, go back to programming and maybe ask for help again.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#endif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</a:t>
            </a:r>
          </a:p>
        </p:txBody>
      </p:sp>
    </p:spTree>
    <p:extLst>
      <p:ext uri="{BB962C8B-B14F-4D97-AF65-F5344CB8AC3E}">
        <p14:creationId xmlns:p14="http://schemas.microsoft.com/office/powerpoint/2010/main" val="3206196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92756-9D92-C28D-3325-4B74CCCC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87EDC6-8907-A6FB-B8B7-7A878649A7DE}"/>
              </a:ext>
            </a:extLst>
          </p:cNvPr>
          <p:cNvSpPr txBox="1"/>
          <p:nvPr/>
        </p:nvSpPr>
        <p:spPr>
          <a:xfrm>
            <a:off x="435429" y="261258"/>
            <a:ext cx="105047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 {     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no chairs available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pthread_mutex_unlock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 Leave critical section without changing anything.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Student %d arrived but all waiting chairs are full. Resuming 				programming and will return later.\n\n", id);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 Log that they’re leaving to try again later.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NULL;     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Thread function returns (exits).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645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F0A6-9BBE-EB09-E661-80F0150D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E0170-9442-F66C-D6B9-4F31B012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8597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TA Thread function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3983BFA-7385-ED4F-4238-9C17472AFD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60978"/>
            <a:ext cx="10394950" cy="3311525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dirty="0"/>
              <a:t>Wait for a student signal (sleep until a student arrives)</a:t>
            </a:r>
          </a:p>
          <a:p>
            <a:pPr marL="457200" indent="-457200">
              <a:buAutoNum type="arabicPeriod"/>
            </a:pPr>
            <a:r>
              <a:rPr lang="en-US" dirty="0"/>
              <a:t>Lock the shared data to safely check chairs</a:t>
            </a:r>
          </a:p>
          <a:p>
            <a:pPr marL="457200" indent="-457200">
              <a:buAutoNum type="arabicPeriod"/>
            </a:pPr>
            <a:r>
              <a:rPr lang="en-US" dirty="0"/>
              <a:t>If no students are waiting, keep sleeping or end if all are helped</a:t>
            </a:r>
          </a:p>
          <a:p>
            <a:pPr marL="457200" indent="-457200">
              <a:buAutoNum type="arabicPeriod"/>
            </a:pPr>
            <a:r>
              <a:rPr lang="en-US" dirty="0"/>
              <a:t>Take the next student from the waiting chairs</a:t>
            </a:r>
          </a:p>
          <a:p>
            <a:pPr marL="457200" indent="-457200">
              <a:buAutoNum type="arabicPeriod"/>
            </a:pPr>
            <a:r>
              <a:rPr lang="en-US" dirty="0"/>
              <a:t>Unlock mutex so others can sit while TA is helping</a:t>
            </a:r>
          </a:p>
          <a:p>
            <a:pPr marL="457200" indent="-457200">
              <a:buAutoNum type="arabicPeriod"/>
            </a:pPr>
            <a:r>
              <a:rPr lang="en-US" dirty="0"/>
              <a:t>Help the student for a random time</a:t>
            </a:r>
          </a:p>
          <a:p>
            <a:pPr marL="457200" indent="-457200">
              <a:buAutoNum type="arabicPeriod"/>
            </a:pPr>
            <a:r>
              <a:rPr lang="en-US" dirty="0"/>
              <a:t>Mark that student as helped and signal them to leave</a:t>
            </a:r>
          </a:p>
          <a:p>
            <a:pPr marL="457200" indent="-457200">
              <a:buAutoNum type="arabicPeriod"/>
            </a:pPr>
            <a:r>
              <a:rPr lang="en-US" dirty="0"/>
              <a:t>Continue until no students remain</a:t>
            </a:r>
          </a:p>
        </p:txBody>
      </p:sp>
    </p:spTree>
    <p:extLst>
      <p:ext uri="{BB962C8B-B14F-4D97-AF65-F5344CB8AC3E}">
        <p14:creationId xmlns:p14="http://schemas.microsoft.com/office/powerpoint/2010/main" val="2321851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3BBA-5431-45AA-B480-ADB48715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CAE005-9DC3-ADF6-BC17-2657FAA4E95F}"/>
              </a:ext>
            </a:extLst>
          </p:cNvPr>
          <p:cNvSpPr txBox="1"/>
          <p:nvPr/>
        </p:nvSpPr>
        <p:spPr>
          <a:xfrm>
            <a:off x="522514" y="478972"/>
            <a:ext cx="1050471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 Thread Start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ta_teaching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(void* unused)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(void)unused; // Silence unused parameter warning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Main Loop &amp; Waiting for Students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TA keeps looping while program is running or there are still students waiting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(&amp;running) || count &gt; 0) 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TA sleeps until a student arrives and signals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sem_stu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sem_wait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sem_stu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Lock shared data before checking or modifying the chair queue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1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3D362-19FE-A377-9A03-C00E1CFA75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574" y="283030"/>
            <a:ext cx="11060482" cy="53745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No Students Waiting Case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If no students are waiting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(count == 0)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If the program is ending and no one is left, TA can rest for good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(&amp;running))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All students have been helped. TA is going back to sleep.\n\n");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Unlock and go back to waiting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pthread_mutex_unlock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continue;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2752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F612E-A42E-BD1B-8E80-C4060DF1F8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1041" y="-136740"/>
            <a:ext cx="10672175" cy="59122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Helping the Next Student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Take the next student in line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chair[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next_teach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("\t\t TA is helping Student %d\n\n",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Remove the student from the chair and update the queue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chair[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next_teach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count--;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Show remaining chairs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 Student(s) waiting in the chair : [1] %d [2] %d [3] %d\n\n",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chair[0], chair[1], chair[2]);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Move to the next chair position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next_teach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next_teach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% NUM_SEAT;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Unlock so students can sit while TA is helping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pthread_mutex_unlock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(&amp;mutex);</a:t>
            </a:r>
          </a:p>
        </p:txBody>
      </p:sp>
    </p:spTree>
    <p:extLst>
      <p:ext uri="{BB962C8B-B14F-4D97-AF65-F5344CB8AC3E}">
        <p14:creationId xmlns:p14="http://schemas.microsoft.com/office/powerpoint/2010/main" val="2871521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421D-0B82-9468-AE93-C3370FE18D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274" y="-65316"/>
            <a:ext cx="10324577" cy="58120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dirty="0"/>
              <a:t>Teaching &amp; Signaling Student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Simulate helping time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rand_sleep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TA finished helping this student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("\t\t Session finished with Student %d.\n\n",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Mark student as helped and signal that specific student to leave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0 &amp;&amp;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g_student_num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atomic_store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(&amp;helped[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1);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sem_post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stu_done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 // Tell that student they are done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/>
              <a:t>End of TA Thread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When no students left, TA thread ends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NULL;</a:t>
            </a:r>
          </a:p>
        </p:txBody>
      </p:sp>
    </p:spTree>
    <p:extLst>
      <p:ext uri="{BB962C8B-B14F-4D97-AF65-F5344CB8AC3E}">
        <p14:creationId xmlns:p14="http://schemas.microsoft.com/office/powerpoint/2010/main" val="4162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9A7E-CB39-3324-F7A2-2A9C3058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4C0CD-8DB0-F91E-E5EA-7E1BA400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70114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C84CB-23A5-A83B-162F-47D1150BDC80}"/>
              </a:ext>
            </a:extLst>
          </p:cNvPr>
          <p:cNvSpPr txBox="1"/>
          <p:nvPr/>
        </p:nvSpPr>
        <p:spPr>
          <a:xfrm>
            <a:off x="468088" y="1630939"/>
            <a:ext cx="10733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“sleeping TA with waiting chairs” simulation, using Portable Operating System Interface (POSIX) threads, a mutex, and semaphores.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demonstrates how semaphores and mutexes can coordinate multiple threads sharing limited resources (Critical Section Data) safely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lesson is that proper synchronization and resource management are essential for correct, deadlock-free concurrent programs.</a:t>
            </a:r>
          </a:p>
        </p:txBody>
      </p:sp>
    </p:spTree>
    <p:extLst>
      <p:ext uri="{BB962C8B-B14F-4D97-AF65-F5344CB8AC3E}">
        <p14:creationId xmlns:p14="http://schemas.microsoft.com/office/powerpoint/2010/main" val="3185382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14088</TotalTime>
  <Words>3101</Words>
  <Application>Microsoft Office PowerPoint</Application>
  <PresentationFormat>Widescreen</PresentationFormat>
  <Paragraphs>354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Impact</vt:lpstr>
      <vt:lpstr>Times New Roman</vt:lpstr>
      <vt:lpstr>Main Event</vt:lpstr>
      <vt:lpstr>Sleeping-ta  semaphore, mutex, &amp; pointer</vt:lpstr>
      <vt:lpstr>Simulation https://github.com/j-Harder81/CSC385-GroupProject-SleepingTA · GitHub</vt:lpstr>
      <vt:lpstr>Sleeping-TA</vt:lpstr>
      <vt:lpstr>PowerPoint Presentation</vt:lpstr>
      <vt:lpstr>PowerPoint Presentation</vt:lpstr>
      <vt:lpstr>PowerPoint Presentation</vt:lpstr>
      <vt:lpstr>Main function</vt:lpstr>
      <vt:lpstr>PowerPoint Presentation</vt:lpstr>
      <vt:lpstr>PowerPoint Presentation</vt:lpstr>
      <vt:lpstr>PowerPoint Presentation</vt:lpstr>
      <vt:lpstr>PowerPoint Presentation</vt:lpstr>
      <vt:lpstr>Student thread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 Thread function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Oden, Trinity R.</dc:creator>
  <cp:lastModifiedBy>Donald Choe</cp:lastModifiedBy>
  <cp:revision>102</cp:revision>
  <dcterms:created xsi:type="dcterms:W3CDTF">2024-11-17T03:21:42Z</dcterms:created>
  <dcterms:modified xsi:type="dcterms:W3CDTF">2025-11-10T18:24:50Z</dcterms:modified>
</cp:coreProperties>
</file>